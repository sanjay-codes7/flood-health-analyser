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61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dro.ca/post/blog_quotes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1422053"/>
            <a:ext cx="10046925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3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Flood Victim Triage System</a:t>
            </a:r>
            <a:endParaRPr lang="en-US" sz="4530" dirty="0"/>
          </a:p>
        </p:txBody>
      </p:sp>
      <p:sp>
        <p:nvSpPr>
          <p:cNvPr id="5" name="Text 3"/>
          <p:cNvSpPr/>
          <p:nvPr/>
        </p:nvSpPr>
        <p:spPr>
          <a:xfrm>
            <a:off x="548580" y="2440260"/>
            <a:ext cx="8621584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526A7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Low-cost vital-sign screening with ESP32 and MAX30102 for disaster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48580" y="2722290"/>
            <a:ext cx="1221782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526A7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48580" y="3840435"/>
            <a:ext cx="457200" cy="457200"/>
          </a:xfrm>
          <a:prstGeom prst="ellipse">
            <a:avLst/>
          </a:prstGeom>
          <a:solidFill>
            <a:srgbClr val="B84F4D"/>
          </a:solidFill>
          <a:ln w="4763">
            <a:solidFill>
              <a:srgbClr val="B84F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840435"/>
            <a:ext cx="457200" cy="457200"/>
          </a:xfrm>
          <a:prstGeom prst="ellipse">
            <a:avLst/>
          </a:prstGeom>
          <a:solidFill>
            <a:srgbClr val="C58B32"/>
          </a:solidFill>
          <a:ln w="4763">
            <a:solidFill>
              <a:srgbClr val="C58B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45" y="3840435"/>
            <a:ext cx="457200" cy="457200"/>
          </a:xfrm>
          <a:prstGeom prst="ellipse">
            <a:avLst/>
          </a:prstGeom>
          <a:solidFill>
            <a:srgbClr val="4E8265"/>
          </a:solidFill>
          <a:ln w="4763">
            <a:solidFill>
              <a:srgbClr val="4E82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45" y="3940225"/>
            <a:ext cx="40547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26A7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Red, yellow and green priority indicators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469381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 this project?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6233" y="1280108"/>
            <a:ext cx="2562225" cy="2743200"/>
          </a:xfrm>
          <a:prstGeom prst="roundRect">
            <a:avLst>
              <a:gd name="adj" fmla="val 1784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45"/>
            <a:ext cx="457200" cy="457200"/>
          </a:xfrm>
          <a:prstGeom prst="ellipse">
            <a:avLst/>
          </a:prstGeom>
          <a:solidFill>
            <a:srgbClr val="2E7187"/>
          </a:solidFill>
          <a:ln w="4763">
            <a:solidFill>
              <a:srgbClr val="2E71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4056" y="1583382"/>
            <a:ext cx="2006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2074515"/>
            <a:ext cx="1766999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85800" y="2541240"/>
            <a:ext cx="27450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Few doctors, many victims.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685800" y="2760687"/>
            <a:ext cx="22549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triage, critical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685800" y="2980134"/>
            <a:ext cx="25342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patients wait in the same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685800" y="3199581"/>
            <a:ext cx="22444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queue as minor cases.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3290813" y="1280108"/>
            <a:ext cx="2562225" cy="2743200"/>
          </a:xfrm>
          <a:prstGeom prst="roundRect">
            <a:avLst>
              <a:gd name="adj" fmla="val 1784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380" y="1508745"/>
            <a:ext cx="457200" cy="457200"/>
          </a:xfrm>
          <a:prstGeom prst="ellipse">
            <a:avLst/>
          </a:prstGeom>
          <a:solidFill>
            <a:srgbClr val="2E7187"/>
          </a:solidFill>
          <a:ln w="4763">
            <a:solidFill>
              <a:srgbClr val="2E71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637" y="1583382"/>
            <a:ext cx="2006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20380" y="2074515"/>
            <a:ext cx="1197985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 idea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520380" y="2541240"/>
            <a:ext cx="23398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Volunteers screen each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3520380" y="2760687"/>
            <a:ext cx="24664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victim in about a minute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520380" y="2980134"/>
            <a:ext cx="27845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a low-cost sensor and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3520380" y="3199581"/>
            <a:ext cx="194654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simple web page.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6125468" y="1280108"/>
            <a:ext cx="2562225" cy="2743200"/>
          </a:xfrm>
          <a:prstGeom prst="roundRect">
            <a:avLst>
              <a:gd name="adj" fmla="val 1784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35" y="1508745"/>
            <a:ext cx="457200" cy="457200"/>
          </a:xfrm>
          <a:prstGeom prst="ellipse">
            <a:avLst/>
          </a:prstGeom>
          <a:solidFill>
            <a:srgbClr val="2E7187"/>
          </a:solidFill>
          <a:ln w="4763">
            <a:solidFill>
              <a:srgbClr val="2E71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292" y="1583382"/>
            <a:ext cx="2006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55035" y="2074515"/>
            <a:ext cx="1411292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result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355035" y="2541240"/>
            <a:ext cx="2504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cases are flagged for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355035" y="2760687"/>
            <a:ext cx="25021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care. Records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6355035" y="2980134"/>
            <a:ext cx="26377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are stored offline and sent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355035" y="3199581"/>
            <a:ext cx="26998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doctors when a network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6355035" y="3419029"/>
            <a:ext cx="83376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returns.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539836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 architecture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2E7187"/>
          </a:solidFill>
          <a:ln/>
        </p:spPr>
      </p:sp>
      <p:sp>
        <p:nvSpPr>
          <p:cNvPr id="5" name="Text 3"/>
          <p:cNvSpPr/>
          <p:nvPr/>
        </p:nvSpPr>
        <p:spPr>
          <a:xfrm>
            <a:off x="575314" y="1590303"/>
            <a:ext cx="113529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MAX30102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766275" y="1809750"/>
            <a:ext cx="75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39493" y="2404095"/>
            <a:ext cx="140693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SpO₂ and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702126" y="2592139"/>
            <a:ext cx="88174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heart rate</a:t>
            </a:r>
            <a:endParaRPr lang="en-US" sz="123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490" y="1828800"/>
            <a:ext cx="246831" cy="95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71700" y="137160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83A5A"/>
          </a:solidFill>
          <a:ln/>
        </p:spPr>
      </p:sp>
      <p:sp>
        <p:nvSpPr>
          <p:cNvPr id="11" name="Text 8"/>
          <p:cNvSpPr/>
          <p:nvPr/>
        </p:nvSpPr>
        <p:spPr>
          <a:xfrm>
            <a:off x="2501369" y="1590303"/>
            <a:ext cx="7122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2005876" y="1809750"/>
            <a:ext cx="170324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microcontroller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073507" y="2404095"/>
            <a:ext cx="156791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Wi-Fi access point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2180886" y="2592139"/>
            <a:ext cx="135315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web server</a:t>
            </a:r>
            <a:endParaRPr lang="en-US" sz="123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990" y="1828800"/>
            <a:ext cx="246831" cy="95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886200" y="137160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83A5A"/>
          </a:solidFill>
          <a:ln/>
        </p:spPr>
      </p:sp>
      <p:sp>
        <p:nvSpPr>
          <p:cNvPr id="17" name="Text 13"/>
          <p:cNvSpPr/>
          <p:nvPr/>
        </p:nvSpPr>
        <p:spPr>
          <a:xfrm>
            <a:off x="4030325" y="1590303"/>
            <a:ext cx="1083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Volunteer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4070192" y="1809750"/>
            <a:ext cx="10035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webpage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3716034" y="2404095"/>
            <a:ext cx="171185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Form, triage colour,</a:t>
            </a:r>
            <a:endParaRPr lang="en-US" sz="1230" dirty="0"/>
          </a:p>
        </p:txBody>
      </p:sp>
      <p:sp>
        <p:nvSpPr>
          <p:cNvPr id="20" name="Text 16"/>
          <p:cNvSpPr/>
          <p:nvPr/>
        </p:nvSpPr>
        <p:spPr>
          <a:xfrm>
            <a:off x="4369586" y="2592139"/>
            <a:ext cx="40482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GPS</a:t>
            </a:r>
            <a:endParaRPr lang="en-US" sz="123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490" y="1828800"/>
            <a:ext cx="246831" cy="95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600700" y="137160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83A5A"/>
          </a:solidFill>
          <a:ln/>
        </p:spPr>
      </p:sp>
      <p:sp>
        <p:nvSpPr>
          <p:cNvPr id="23" name="Text 18"/>
          <p:cNvSpPr/>
          <p:nvPr/>
        </p:nvSpPr>
        <p:spPr>
          <a:xfrm>
            <a:off x="5912677" y="1590303"/>
            <a:ext cx="7475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Device</a:t>
            </a:r>
            <a:endParaRPr lang="en-US" sz="1440" dirty="0"/>
          </a:p>
        </p:txBody>
      </p:sp>
      <p:sp>
        <p:nvSpPr>
          <p:cNvPr id="24" name="Text 19"/>
          <p:cNvSpPr/>
          <p:nvPr/>
        </p:nvSpPr>
        <p:spPr>
          <a:xfrm>
            <a:off x="5868855" y="1809750"/>
            <a:ext cx="8352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storage</a:t>
            </a:r>
            <a:endParaRPr lang="en-US" sz="1440" dirty="0"/>
          </a:p>
        </p:txBody>
      </p:sp>
      <p:sp>
        <p:nvSpPr>
          <p:cNvPr id="25" name="Text 20"/>
          <p:cNvSpPr/>
          <p:nvPr/>
        </p:nvSpPr>
        <p:spPr>
          <a:xfrm>
            <a:off x="5444948" y="2404095"/>
            <a:ext cx="168303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Saved offline in the</a:t>
            </a:r>
            <a:endParaRPr lang="en-US" sz="1230" dirty="0"/>
          </a:p>
        </p:txBody>
      </p:sp>
      <p:sp>
        <p:nvSpPr>
          <p:cNvPr id="26" name="Text 21"/>
          <p:cNvSpPr/>
          <p:nvPr/>
        </p:nvSpPr>
        <p:spPr>
          <a:xfrm>
            <a:off x="5910742" y="2592139"/>
            <a:ext cx="75144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</a:t>
            </a:r>
            <a:endParaRPr lang="en-US" sz="123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990" y="1828800"/>
            <a:ext cx="246831" cy="952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15200" y="137160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B85F44"/>
          </a:solidFill>
          <a:ln/>
        </p:spPr>
      </p:sp>
      <p:sp>
        <p:nvSpPr>
          <p:cNvPr id="29" name="Text 23"/>
          <p:cNvSpPr/>
          <p:nvPr/>
        </p:nvSpPr>
        <p:spPr>
          <a:xfrm>
            <a:off x="7568349" y="1590303"/>
            <a:ext cx="8653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</a:t>
            </a:r>
            <a:endParaRPr lang="en-US" sz="1440" dirty="0"/>
          </a:p>
        </p:txBody>
      </p:sp>
      <p:sp>
        <p:nvSpPr>
          <p:cNvPr id="30" name="Text 24"/>
          <p:cNvSpPr/>
          <p:nvPr/>
        </p:nvSpPr>
        <p:spPr>
          <a:xfrm>
            <a:off x="7640032" y="1809750"/>
            <a:ext cx="7219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</a:t>
            </a:r>
            <a:endParaRPr lang="en-US" sz="1440" dirty="0"/>
          </a:p>
        </p:txBody>
      </p:sp>
      <p:sp>
        <p:nvSpPr>
          <p:cNvPr id="31" name="Text 25"/>
          <p:cNvSpPr/>
          <p:nvPr/>
        </p:nvSpPr>
        <p:spPr>
          <a:xfrm>
            <a:off x="7266719" y="2404095"/>
            <a:ext cx="146856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Receives records</a:t>
            </a:r>
            <a:endParaRPr lang="en-US" sz="1230" dirty="0"/>
          </a:p>
        </p:txBody>
      </p:sp>
      <p:sp>
        <p:nvSpPr>
          <p:cNvPr id="32" name="Text 26"/>
          <p:cNvSpPr/>
          <p:nvPr/>
        </p:nvSpPr>
        <p:spPr>
          <a:xfrm>
            <a:off x="7449168" y="2592139"/>
            <a:ext cx="110366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online</a:t>
            </a:r>
            <a:endParaRPr lang="en-US" sz="1230" dirty="0"/>
          </a:p>
        </p:txBody>
      </p:sp>
      <p:sp>
        <p:nvSpPr>
          <p:cNvPr id="33" name="Shape 27"/>
          <p:cNvSpPr/>
          <p:nvPr/>
        </p:nvSpPr>
        <p:spPr>
          <a:xfrm>
            <a:off x="457200" y="3384166"/>
            <a:ext cx="8229600" cy="1095375"/>
          </a:xfrm>
          <a:prstGeom prst="roundRect">
            <a:avLst>
              <a:gd name="adj" fmla="val 4174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31490" y="3693319"/>
            <a:ext cx="81779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Entered by the volunteer: </a:t>
            </a: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temperature, blood pressure, consciousness and notes</a:t>
            </a:r>
            <a:endParaRPr lang="en-US" sz="1440" dirty="0"/>
          </a:p>
        </p:txBody>
      </p:sp>
      <p:sp>
        <p:nvSpPr>
          <p:cNvPr id="35" name="Text 29"/>
          <p:cNvSpPr/>
          <p:nvPr/>
        </p:nvSpPr>
        <p:spPr>
          <a:xfrm>
            <a:off x="731490" y="3912766"/>
            <a:ext cx="76873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Fed back to the device: </a:t>
            </a: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priority </a:t>
            </a:r>
            <a:r>
              <a:rPr lang="en-US" sz="1440" dirty="0" err="1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colour</a:t>
            </a: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lights the red, yellow or green LED</a:t>
            </a:r>
            <a:endParaRPr lang="en-US" sz="1440" dirty="0"/>
          </a:p>
        </p:txBody>
      </p:sp>
      <p:sp>
        <p:nvSpPr>
          <p:cNvPr id="36" name="Text 30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743982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Electrical components used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6233" y="1280592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35" y="1388715"/>
            <a:ext cx="205895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dev board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35" y="1809750"/>
            <a:ext cx="26562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Dual-core microcontroller,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40035" y="2029197"/>
            <a:ext cx="24119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3.3 V logic, built-in Wi-Fi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3290813" y="1280592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690" y="1388715"/>
            <a:ext cx="213924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MAX30102 sensor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474690" y="1809750"/>
            <a:ext cx="28890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and infrared LEDs with a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474690" y="2029197"/>
            <a:ext cx="2814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photodetector, I2C interface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125468" y="1280592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45" y="1388715"/>
            <a:ext cx="14526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 LEDs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09345" y="1809750"/>
            <a:ext cx="22371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Red, yellow and green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6309345" y="2029197"/>
            <a:ext cx="18272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priority indicators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56233" y="2972246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35" y="3080370"/>
            <a:ext cx="18216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220 Ω resistors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0035" y="3501330"/>
            <a:ext cx="25506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 each LED current to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35" y="3720778"/>
            <a:ext cx="11861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about 6 mA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3290813" y="2972246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690" y="3080370"/>
            <a:ext cx="197953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Breadboard and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474690" y="3331146"/>
            <a:ext cx="104233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jumpers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474690" y="3501330"/>
            <a:ext cx="27461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Solder-free wiring for quick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3474690" y="3720778"/>
            <a:ext cx="1227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prototyping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125468" y="2972246"/>
            <a:ext cx="2562225" cy="1462088"/>
          </a:xfrm>
          <a:prstGeom prst="roundRect">
            <a:avLst>
              <a:gd name="adj" fmla="val 3127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45" y="3080370"/>
            <a:ext cx="167877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supply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309345" y="3501330"/>
            <a:ext cx="22902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USB power bank or 5 V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6309345" y="3720778"/>
            <a:ext cx="201774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charger for field use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497571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Working principle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6716" y="1280108"/>
            <a:ext cx="4938712" cy="3200400"/>
          </a:xfrm>
          <a:prstGeom prst="roundRect">
            <a:avLst>
              <a:gd name="adj" fmla="val 142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490" y="1434405"/>
            <a:ext cx="5153806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SpO₂ and heart rate by pulse oximetry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02940" y="1992585"/>
            <a:ext cx="48474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•Oxygen-rich blood absorbs more infrared light;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074390" y="2212032"/>
            <a:ext cx="42227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oxygen-poor blood absorbs more red light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902940" y="2469579"/>
            <a:ext cx="5374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•The sensor measures reflected red and infrared light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074390" y="2689027"/>
            <a:ext cx="18006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the fingertip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902940" y="2946574"/>
            <a:ext cx="51768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•SpO₂ comes from the ratio of the pulsing to steady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074390" y="3166021"/>
            <a:ext cx="209049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at each colour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902940" y="3423568"/>
            <a:ext cx="54386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•Heart rate comes from the time between pulse peaks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5668268" y="1280108"/>
            <a:ext cx="3019425" cy="3200400"/>
          </a:xfrm>
          <a:prstGeom prst="roundRect">
            <a:avLst>
              <a:gd name="adj" fmla="val 1514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35" y="1434405"/>
            <a:ext cx="2492536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LED current check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897835" y="1929780"/>
            <a:ext cx="2661925" cy="895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940" b="1" dirty="0">
                <a:solidFill>
                  <a:srgbClr val="B85F4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≈ 6 mA</a:t>
            </a:r>
            <a:endParaRPr lang="en-US" sz="4940" dirty="0"/>
          </a:p>
        </p:txBody>
      </p:sp>
      <p:sp>
        <p:nvSpPr>
          <p:cNvPr id="16" name="Text 14"/>
          <p:cNvSpPr/>
          <p:nvPr/>
        </p:nvSpPr>
        <p:spPr>
          <a:xfrm>
            <a:off x="5897835" y="2906985"/>
            <a:ext cx="239724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= (3.3 V − 2.0 V) ÷ 220 Ω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897835" y="3364185"/>
            <a:ext cx="32291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 for an ESP32 pin and bright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5897835" y="3583632"/>
            <a:ext cx="23728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enough for an indicator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87335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Frontend, backend and database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6233" y="1279178"/>
            <a:ext cx="2562225" cy="2333625"/>
          </a:xfrm>
          <a:prstGeom prst="roundRect">
            <a:avLst>
              <a:gd name="adj" fmla="val 195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35" y="1388715"/>
            <a:ext cx="1293852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40035" y="1901130"/>
            <a:ext cx="26361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HTML, CSS and JavaScript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40035" y="2120578"/>
            <a:ext cx="23357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page: patient form, live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640035" y="2340025"/>
            <a:ext cx="22318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readout, triage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640035" y="2559472"/>
            <a:ext cx="24275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colour, GPS capture and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640035" y="2778919"/>
            <a:ext cx="11719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 list.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3290813" y="1279178"/>
            <a:ext cx="2562225" cy="2333625"/>
          </a:xfrm>
          <a:prstGeom prst="roundRect">
            <a:avLst>
              <a:gd name="adj" fmla="val 195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690" y="1388715"/>
            <a:ext cx="1213269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474690" y="1901130"/>
            <a:ext cx="27174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web server provides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474690" y="2120578"/>
            <a:ext cx="27835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/vitals and /led. An optional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3474690" y="2340025"/>
            <a:ext cx="23301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server receives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3474690" y="2559472"/>
            <a:ext cx="24305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 at /api/patients.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125468" y="1279178"/>
            <a:ext cx="2562225" cy="2333625"/>
          </a:xfrm>
          <a:prstGeom prst="roundRect">
            <a:avLst>
              <a:gd name="adj" fmla="val 195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45" y="1388715"/>
            <a:ext cx="1305074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E71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09345" y="1901130"/>
            <a:ext cx="27851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 localStorage keeps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6309345" y="2120578"/>
            <a:ext cx="25457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 offline. SQLite on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6309345" y="2340025"/>
            <a:ext cx="25338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medical server stores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6309345" y="2559472"/>
            <a:ext cx="159944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synced records.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457200" y="3840882"/>
            <a:ext cx="8229600" cy="547687"/>
          </a:xfrm>
          <a:prstGeom prst="roundRect">
            <a:avLst>
              <a:gd name="adj" fmla="val 8348"/>
            </a:avLst>
          </a:prstGeom>
          <a:solidFill>
            <a:srgbClr val="183A5A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160" y="3985915"/>
            <a:ext cx="708760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format: JSON Link: Wi-Fi or USB Sync: HTTP POST when online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63135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priority is decided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7200" y="123438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482" y="1417737"/>
            <a:ext cx="547687" cy="547687"/>
          </a:xfrm>
          <a:prstGeom prst="ellipse">
            <a:avLst/>
          </a:prstGeom>
          <a:solidFill>
            <a:srgbClr val="B84F4D"/>
          </a:solidFill>
          <a:ln w="4763">
            <a:solidFill>
              <a:srgbClr val="B84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21991"/>
            <a:ext cx="606043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651745" y="1453083"/>
            <a:ext cx="73682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Immediate: SpO₂ below 90%, heart rate above 130 or below 40, systolic BP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2651745" y="1672530"/>
            <a:ext cx="69832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below 90, temperature 104 °F or above or below 95 °F, or unresponsive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57200" y="2285926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482" y="2469282"/>
            <a:ext cx="547687" cy="547687"/>
          </a:xfrm>
          <a:prstGeom prst="ellipse">
            <a:avLst/>
          </a:prstGeom>
          <a:solidFill>
            <a:srgbClr val="C58B32"/>
          </a:solidFill>
          <a:ln w="4763">
            <a:solidFill>
              <a:srgbClr val="C58B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573536"/>
            <a:ext cx="1147584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YELLOW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2651745" y="2394868"/>
            <a:ext cx="75568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Urgent: SpO₂ 90 to 93%, heart rate 111 to 130 or 40 to 49, systolic BP 90 to 99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2651745" y="2614315"/>
            <a:ext cx="69919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 above 180, temperature 101.3 to 103.9 °F or 95 to 96.7 °F, or reduced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2651745" y="2833762"/>
            <a:ext cx="14906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consciousness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45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482" y="3520827"/>
            <a:ext cx="547687" cy="547687"/>
          </a:xfrm>
          <a:prstGeom prst="ellipse">
            <a:avLst/>
          </a:prstGeom>
          <a:solidFill>
            <a:srgbClr val="4E8265"/>
          </a:solidFill>
          <a:ln w="4763">
            <a:solidFill>
              <a:srgbClr val="4E82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625155"/>
            <a:ext cx="977615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2651745" y="3665934"/>
            <a:ext cx="61974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Stable: all readings in the normal range and the patient is alert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57200" y="4415730"/>
            <a:ext cx="966142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Rule: the worst single reading decides the colour. Thresholds are starting values and must be validated by medical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457200" y="4603775"/>
            <a:ext cx="46364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staff.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921062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Programming languages and tools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8130" y="1234455"/>
            <a:ext cx="2009775" cy="566738"/>
          </a:xfrm>
          <a:prstGeom prst="roundRect">
            <a:avLst>
              <a:gd name="adj" fmla="val 8067"/>
            </a:avLst>
          </a:prstGeom>
          <a:solidFill>
            <a:srgbClr val="2E7187"/>
          </a:solidFill>
          <a:ln/>
        </p:spPr>
      </p:sp>
      <p:sp>
        <p:nvSpPr>
          <p:cNvPr id="5" name="Text 3"/>
          <p:cNvSpPr/>
          <p:nvPr/>
        </p:nvSpPr>
        <p:spPr>
          <a:xfrm>
            <a:off x="1032543" y="1363861"/>
            <a:ext cx="86094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 / C++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697435" y="1279327"/>
            <a:ext cx="77076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Firmware in Arduino IDE: sensor reading, SpO₂ and heart-rate algorithm, Wi-Fi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2697435" y="1498774"/>
            <a:ext cx="19133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server, LED control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458130" y="1892871"/>
            <a:ext cx="2009775" cy="566738"/>
          </a:xfrm>
          <a:prstGeom prst="roundRect">
            <a:avLst>
              <a:gd name="adj" fmla="val 8067"/>
            </a:avLst>
          </a:prstGeom>
          <a:solidFill>
            <a:srgbClr val="2E7187"/>
          </a:solidFill>
          <a:ln/>
        </p:spPr>
      </p:sp>
      <p:sp>
        <p:nvSpPr>
          <p:cNvPr id="9" name="Text 7"/>
          <p:cNvSpPr/>
          <p:nvPr/>
        </p:nvSpPr>
        <p:spPr>
          <a:xfrm>
            <a:off x="588321" y="2022277"/>
            <a:ext cx="174939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and CSS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97435" y="2047429"/>
            <a:ext cx="59719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Page structure and a layout that works on phone and laptop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58130" y="2551212"/>
            <a:ext cx="2009775" cy="566738"/>
          </a:xfrm>
          <a:prstGeom prst="roundRect">
            <a:avLst>
              <a:gd name="adj" fmla="val 8067"/>
            </a:avLst>
          </a:prstGeom>
          <a:solidFill>
            <a:srgbClr val="2E7187"/>
          </a:solidFill>
          <a:ln/>
        </p:spPr>
      </p:sp>
      <p:sp>
        <p:nvSpPr>
          <p:cNvPr id="12" name="Text 10"/>
          <p:cNvSpPr/>
          <p:nvPr/>
        </p:nvSpPr>
        <p:spPr>
          <a:xfrm>
            <a:off x="796900" y="2680618"/>
            <a:ext cx="133216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697435" y="2705770"/>
            <a:ext cx="71523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Triage rules, ESP32 link (fetch and Web Serial), GPS, offline storage, sync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8130" y="3209553"/>
            <a:ext cx="2009775" cy="566738"/>
          </a:xfrm>
          <a:prstGeom prst="roundRect">
            <a:avLst>
              <a:gd name="adj" fmla="val 8067"/>
            </a:avLst>
          </a:prstGeom>
          <a:solidFill>
            <a:srgbClr val="2E7187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548" y="3338959"/>
            <a:ext cx="71293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697435" y="3364111"/>
            <a:ext cx="56442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 data format between ESP32, webpage and server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58130" y="3867969"/>
            <a:ext cx="2009775" cy="566738"/>
          </a:xfrm>
          <a:prstGeom prst="roundRect">
            <a:avLst>
              <a:gd name="adj" fmla="val 8067"/>
            </a:avLst>
          </a:prstGeom>
          <a:solidFill>
            <a:srgbClr val="2E7187"/>
          </a:solidFill>
          <a:ln/>
        </p:spPr>
      </p:sp>
      <p:sp>
        <p:nvSpPr>
          <p:cNvPr id="18" name="Text 16"/>
          <p:cNvSpPr/>
          <p:nvPr/>
        </p:nvSpPr>
        <p:spPr>
          <a:xfrm>
            <a:off x="456757" y="3997375"/>
            <a:ext cx="2012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and SQL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697435" y="4022527"/>
            <a:ext cx="50701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Optional medical-department server and database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1097"/>
            <a:ext cx="732616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9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Advantages and limitations</a:t>
            </a:r>
            <a:endParaRPr lang="en-US" sz="3290" dirty="0"/>
          </a:p>
        </p:txBody>
      </p:sp>
      <p:sp>
        <p:nvSpPr>
          <p:cNvPr id="4" name="Shape 2"/>
          <p:cNvSpPr/>
          <p:nvPr/>
        </p:nvSpPr>
        <p:spPr>
          <a:xfrm>
            <a:off x="456716" y="1280592"/>
            <a:ext cx="4024312" cy="3290887"/>
          </a:xfrm>
          <a:prstGeom prst="roundRect">
            <a:avLst>
              <a:gd name="adj" fmla="val 138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2897" y="1280592"/>
            <a:ext cx="4024312" cy="3290887"/>
          </a:xfrm>
          <a:prstGeom prst="roundRect">
            <a:avLst>
              <a:gd name="adj" fmla="val 1389"/>
            </a:avLst>
          </a:prstGeom>
          <a:solidFill>
            <a:srgbClr val="E8EFF1"/>
          </a:solidFill>
          <a:ln w="4763">
            <a:solidFill>
              <a:srgbClr val="E8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8715"/>
            <a:ext cx="1620150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4E82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Advantages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7250" y="1901130"/>
            <a:ext cx="36742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•Low cost, built from common parts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57250" y="2158678"/>
            <a:ext cx="30512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•Works offline and syncs later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857250" y="2416225"/>
            <a:ext cx="390036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•Fast screening, about one minute per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028700" y="2635672"/>
            <a:ext cx="769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57250" y="2893219"/>
            <a:ext cx="41413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•Automatic GPS location for every victim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857250" y="3150766"/>
            <a:ext cx="42201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•LED colours readable without the screen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891980" y="1388715"/>
            <a:ext cx="1593547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B84F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063430" y="1901130"/>
            <a:ext cx="41111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•MAX30102 is not medical grade; motion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234880" y="2120578"/>
            <a:ext cx="314039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cold fingers affect readings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5063430" y="2378125"/>
            <a:ext cx="42359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•Temperature and blood pressure are still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234880" y="2597572"/>
            <a:ext cx="8137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5063430" y="2855119"/>
            <a:ext cx="38647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•Records can be lost if browser data is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5234880" y="3074566"/>
            <a:ext cx="7905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cleared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5063430" y="3332113"/>
            <a:ext cx="27973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•No login or encryption yet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5063430" y="3589660"/>
            <a:ext cx="427890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•Triage thresholds need clinical validation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8366671" y="4758630"/>
            <a:ext cx="1457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87A8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99306"/>
            <a:ext cx="860397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183A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Conclusion and future scope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548580" y="1429643"/>
            <a:ext cx="495278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60" i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low-cost, offline-first tool that</a:t>
            </a:r>
            <a:endParaRPr lang="en-US" sz="2260" dirty="0"/>
          </a:p>
        </p:txBody>
      </p:sp>
      <p:sp>
        <p:nvSpPr>
          <p:cNvPr id="6" name="Text 4"/>
          <p:cNvSpPr/>
          <p:nvPr/>
        </p:nvSpPr>
        <p:spPr>
          <a:xfrm>
            <a:off x="548580" y="1774478"/>
            <a:ext cx="390984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60" i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helps volunteers find the</a:t>
            </a:r>
            <a:endParaRPr lang="en-US" sz="2260" dirty="0"/>
          </a:p>
        </p:txBody>
      </p:sp>
      <p:sp>
        <p:nvSpPr>
          <p:cNvPr id="7" name="Text 5"/>
          <p:cNvSpPr/>
          <p:nvPr/>
        </p:nvSpPr>
        <p:spPr>
          <a:xfrm>
            <a:off x="548580" y="2119312"/>
            <a:ext cx="4921828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60" i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victims who need a doctor first.</a:t>
            </a:r>
            <a:endParaRPr lang="en-US" sz="2260" dirty="0"/>
          </a:p>
        </p:txBody>
      </p:sp>
      <p:sp>
        <p:nvSpPr>
          <p:cNvPr id="8" name="Shape 6"/>
          <p:cNvSpPr/>
          <p:nvPr/>
        </p:nvSpPr>
        <p:spPr>
          <a:xfrm>
            <a:off x="548580" y="3566145"/>
            <a:ext cx="457200" cy="457200"/>
          </a:xfrm>
          <a:prstGeom prst="ellipse">
            <a:avLst/>
          </a:prstGeom>
          <a:solidFill>
            <a:srgbClr val="B84F4D"/>
          </a:solidFill>
          <a:ln w="4763">
            <a:solidFill>
              <a:srgbClr val="B84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566145"/>
            <a:ext cx="457200" cy="457200"/>
          </a:xfrm>
          <a:prstGeom prst="ellipse">
            <a:avLst/>
          </a:prstGeom>
          <a:solidFill>
            <a:srgbClr val="C58B32"/>
          </a:solidFill>
          <a:ln w="4763">
            <a:solidFill>
              <a:srgbClr val="C58B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45" y="3566145"/>
            <a:ext cx="457200" cy="457200"/>
          </a:xfrm>
          <a:prstGeom prst="ellipse">
            <a:avLst/>
          </a:prstGeom>
          <a:solidFill>
            <a:srgbClr val="4E8265"/>
          </a:solidFill>
          <a:ln w="4763">
            <a:solidFill>
              <a:srgbClr val="4E82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45" y="1434405"/>
            <a:ext cx="1448343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109195" y="1776710"/>
            <a:ext cx="46143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</a:t>
            </a:r>
            <a:r>
              <a:rPr lang="en-US" sz="1440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 temperature sensor such as MLX90614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5109195" y="2034257"/>
            <a:ext cx="40743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</a:t>
            </a:r>
            <a:r>
              <a:rPr lang="en-US" sz="1440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Battery pack and waterproof enclosure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109195" y="2291804"/>
            <a:ext cx="276204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</a:t>
            </a:r>
            <a:r>
              <a:rPr lang="en-US" sz="1440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 and encrypted sync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109195" y="2549351"/>
            <a:ext cx="31649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</a:t>
            </a:r>
            <a:r>
              <a:rPr lang="en-US" sz="1440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 dashboard with a map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5109195" y="2806898"/>
            <a:ext cx="33471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2637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</a:t>
            </a:r>
            <a:r>
              <a:rPr lang="en-US" sz="1440" dirty="0">
                <a:solidFill>
                  <a:srgbClr val="183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validation of thresholds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B8FBEF-1C63-E7DF-7150-573819F853E4}"/>
              </a:ext>
            </a:extLst>
          </p:cNvPr>
          <p:cNvSpPr txBox="1"/>
          <p:nvPr/>
        </p:nvSpPr>
        <p:spPr>
          <a:xfrm>
            <a:off x="1064711" y="795403"/>
            <a:ext cx="73214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none" strike="noStrike" dirty="0">
                <a:effectLst/>
                <a:latin typeface="+mn-lt"/>
              </a:rPr>
              <a:t>“</a:t>
            </a:r>
            <a:r>
              <a:rPr lang="en-IN" sz="1800" b="1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Trebuchet MS" panose="020B0603020202020204" pitchFamily="34" charset="0"/>
              </a:rPr>
              <a:t>We cannot stop natural disasters, but we can arm ourselves with knowledge: so many lives wouldn't be lost if there was enough disaster preparedness</a:t>
            </a:r>
            <a:r>
              <a:rPr lang="en-IN" sz="1800" b="1" u="none" strike="noStrike" dirty="0">
                <a:effectLst/>
                <a:latin typeface="+mn-lt"/>
              </a:rPr>
              <a:t>.”</a:t>
            </a:r>
            <a:br>
              <a:rPr lang="en-IN" dirty="0"/>
            </a:br>
            <a:r>
              <a:rPr lang="en-IN" dirty="0"/>
              <a:t>                                                                      — </a:t>
            </a:r>
            <a:r>
              <a:rPr lang="en-IN" sz="24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Rockwell Condensed" panose="020606030504050201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Petra Nemcova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Rockwell Condensed" panose="020606030504050201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67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D0D3E4-3C41-B810-D59F-443F97442BC6}"/>
              </a:ext>
            </a:extLst>
          </p:cNvPr>
          <p:cNvSpPr/>
          <p:nvPr/>
        </p:nvSpPr>
        <p:spPr>
          <a:xfrm>
            <a:off x="1860115" y="1509921"/>
            <a:ext cx="4741102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350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794</Words>
  <Application>Microsoft Office PowerPoint</Application>
  <PresentationFormat>On-screen Show (16:9)</PresentationFormat>
  <Paragraphs>170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Rockwell Condensed</vt:lpstr>
      <vt:lpstr>Showcard Gothic</vt:lpstr>
      <vt:lpstr>Source Sans 3</vt:lpstr>
      <vt:lpstr>Source Serif 4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Home</cp:lastModifiedBy>
  <cp:revision>3</cp:revision>
  <dcterms:created xsi:type="dcterms:W3CDTF">2026-10-18T05:04:01Z</dcterms:created>
  <dcterms:modified xsi:type="dcterms:W3CDTF">2026-10-18T08:36:47Z</dcterms:modified>
</cp:coreProperties>
</file>